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24">
          <p15:clr>
            <a:srgbClr val="A4A3A4"/>
          </p15:clr>
        </p15:guide>
        <p15:guide id="2" pos="7368">
          <p15:clr>
            <a:srgbClr val="A4A3A4"/>
          </p15:clr>
        </p15:guide>
        <p15:guide id="3" pos="312">
          <p15:clr>
            <a:srgbClr val="A4A3A4"/>
          </p15:clr>
        </p15:guide>
        <p15:guide id="4" orient="horz" pos="2856">
          <p15:clr>
            <a:srgbClr val="A4A3A4"/>
          </p15:clr>
        </p15:guide>
        <p15:guide id="5" pos="5928">
          <p15:clr>
            <a:srgbClr val="A4A3A4"/>
          </p15:clr>
        </p15:guide>
        <p15:guide id="6" pos="6168">
          <p15:clr>
            <a:srgbClr val="A4A3A4"/>
          </p15:clr>
        </p15:guide>
        <p15:guide id="7" pos="1512">
          <p15:clr>
            <a:srgbClr val="A4A3A4"/>
          </p15:clr>
        </p15:guide>
        <p15:guide id="8" orient="horz" pos="264">
          <p15:clr>
            <a:srgbClr val="A4A3A4"/>
          </p15:clr>
        </p15:guide>
        <p15:guide id="9" pos="2496">
          <p15:clr>
            <a:srgbClr val="A4A3A4"/>
          </p15:clr>
        </p15:guide>
        <p15:guide id="10" pos="2688">
          <p15:clr>
            <a:srgbClr val="A4A3A4"/>
          </p15:clr>
        </p15:guide>
        <p15:guide id="11" pos="4536">
          <p15:clr>
            <a:srgbClr val="A4A3A4"/>
          </p15:clr>
        </p15:guide>
        <p15:guide id="12" pos="4008">
          <p15:clr>
            <a:srgbClr val="A4A3A4"/>
          </p15:clr>
        </p15:guide>
        <p15:guide id="13" pos="4944">
          <p15:clr>
            <a:srgbClr val="A4A3A4"/>
          </p15:clr>
        </p15:guide>
        <p15:guide id="14" pos="5136">
          <p15:clr>
            <a:srgbClr val="A4A3A4"/>
          </p15:clr>
        </p15:guide>
        <p15:guide id="15" orient="horz" pos="1584">
          <p15:clr>
            <a:srgbClr val="A4A3A4"/>
          </p15:clr>
        </p15:guide>
        <p15:guide id="16" orient="horz" pos="2736">
          <p15:clr>
            <a:srgbClr val="A4A3A4"/>
          </p15:clr>
        </p15:guide>
        <p15:guide id="17" orient="horz" pos="3648">
          <p15:clr>
            <a:srgbClr val="A4A3A4"/>
          </p15:clr>
        </p15:guide>
        <p15:guide id="18" orient="horz" pos="864">
          <p15:clr>
            <a:srgbClr val="A4A3A4"/>
          </p15:clr>
        </p15:guide>
        <p15:guide id="19" orient="horz" pos="3984">
          <p15:clr>
            <a:srgbClr val="A4A3A4"/>
          </p15:clr>
        </p15:guide>
        <p15:guide id="20" pos="456">
          <p15:clr>
            <a:srgbClr val="A4A3A4"/>
          </p15:clr>
        </p15:guide>
        <p15:guide id="21" pos="7248">
          <p15:clr>
            <a:srgbClr val="A4A3A4"/>
          </p15:clr>
        </p15:guide>
        <p15:guide id="22" orient="horz" pos="1920">
          <p15:clr>
            <a:srgbClr val="A4A3A4"/>
          </p15:clr>
        </p15:guide>
        <p15:guide id="23" orient="horz" pos="2256">
          <p15:clr>
            <a:srgbClr val="A4A3A4"/>
          </p15:clr>
        </p15:guide>
        <p15:guide id="24" pos="7176">
          <p15:clr>
            <a:srgbClr val="A4A3A4"/>
          </p15:clr>
        </p15:guide>
        <p15:guide id="25" orient="horz" pos="1704">
          <p15:clr>
            <a:srgbClr val="A4A3A4"/>
          </p15:clr>
        </p15:guide>
        <p15:guide id="26" pos="4176">
          <p15:clr>
            <a:srgbClr val="A4A3A4"/>
          </p15:clr>
        </p15:guide>
        <p15:guide id="27" orient="horz" pos="2592">
          <p15:clr>
            <a:srgbClr val="A4A3A4"/>
          </p15:clr>
        </p15:guide>
        <p15:guide id="28" pos="6912">
          <p15:clr>
            <a:srgbClr val="A4A3A4"/>
          </p15:clr>
        </p15:guide>
        <p15:guide id="29" pos="3552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iFMKLVe0BzH3uz+uXgX8ebYQMJ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24" orient="horz"/>
        <p:guide pos="7368"/>
        <p:guide pos="312"/>
        <p:guide pos="2856" orient="horz"/>
        <p:guide pos="5928"/>
        <p:guide pos="6168"/>
        <p:guide pos="1512"/>
        <p:guide pos="264" orient="horz"/>
        <p:guide pos="2496"/>
        <p:guide pos="2688"/>
        <p:guide pos="4536"/>
        <p:guide pos="4008"/>
        <p:guide pos="4944"/>
        <p:guide pos="5136"/>
        <p:guide pos="1584" orient="horz"/>
        <p:guide pos="2736" orient="horz"/>
        <p:guide pos="3648" orient="horz"/>
        <p:guide pos="864" orient="horz"/>
        <p:guide pos="3984" orient="horz"/>
        <p:guide pos="456"/>
        <p:guide pos="7248"/>
        <p:guide pos="1920" orient="horz"/>
        <p:guide pos="2256" orient="horz"/>
        <p:guide pos="7176"/>
        <p:guide pos="1704" orient="horz"/>
        <p:guide pos="4176"/>
        <p:guide pos="2592" orient="horz"/>
        <p:guide pos="6912"/>
        <p:guide pos="355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2267712" y="1408176"/>
            <a:ext cx="64008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3867912" y="5047488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18" name="Google Shape;18;p13"/>
          <p:cNvGrpSpPr/>
          <p:nvPr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19" name="Google Shape;19;p13"/>
            <p:cNvCxnSpPr/>
            <p:nvPr/>
          </p:nvCxnSpPr>
          <p:spPr>
            <a:xfrm>
              <a:off x="3733800" y="5539861"/>
              <a:ext cx="6054153" cy="0"/>
            </a:xfrm>
            <a:prstGeom prst="straightConnector1">
              <a:avLst/>
            </a:prstGeom>
            <a:noFill/>
            <a:ln cap="flat" cmpd="sng" w="571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" name="Google Shape;20;p13"/>
            <p:cNvCxnSpPr/>
            <p:nvPr/>
          </p:nvCxnSpPr>
          <p:spPr>
            <a:xfrm>
              <a:off x="9783803" y="5539861"/>
              <a:ext cx="21717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D8BEB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2295144" y="1463040"/>
            <a:ext cx="749808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2322576" y="2953512"/>
            <a:ext cx="7470648" cy="329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/>
            </a:lvl1pPr>
            <a:lvl2pPr indent="-228600" lvl="1" marL="9144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i="1" sz="16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6" name="Google Shape;26;p14"/>
          <p:cNvGrpSpPr/>
          <p:nvPr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27" name="Google Shape;27;p14"/>
            <p:cNvCxnSpPr/>
            <p:nvPr/>
          </p:nvCxnSpPr>
          <p:spPr>
            <a:xfrm>
              <a:off x="2286319" y="5546299"/>
              <a:ext cx="7391400" cy="0"/>
            </a:xfrm>
            <a:prstGeom prst="straightConnector1">
              <a:avLst/>
            </a:prstGeom>
            <a:noFill/>
            <a:ln cap="flat" cmpd="sng" w="571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" name="Google Shape;28;p14"/>
            <p:cNvCxnSpPr/>
            <p:nvPr/>
          </p:nvCxnSpPr>
          <p:spPr>
            <a:xfrm>
              <a:off x="9676016" y="5547202"/>
              <a:ext cx="2411430" cy="0"/>
            </a:xfrm>
            <a:prstGeom prst="straightConnector1">
              <a:avLst/>
            </a:prstGeom>
            <a:noFill/>
            <a:ln cap="flat" cmpd="sng" w="5715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 light">
  <p:cSld name="Title and two column light">
    <p:bg>
      <p:bgPr>
        <a:solidFill>
          <a:schemeClr val="accent6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5"/>
          <p:cNvSpPr/>
          <p:nvPr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5"/>
          <p:cNvSpPr txBox="1"/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649224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2" type="body"/>
          </p:nvPr>
        </p:nvSpPr>
        <p:spPr>
          <a:xfrm>
            <a:off x="6236208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3" type="body"/>
          </p:nvPr>
        </p:nvSpPr>
        <p:spPr>
          <a:xfrm>
            <a:off x="365760" y="3401568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4" type="body"/>
          </p:nvPr>
        </p:nvSpPr>
        <p:spPr>
          <a:xfrm>
            <a:off x="5943600" y="3401568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8" name="Google Shape;38;p15"/>
          <p:cNvGrpSpPr/>
          <p:nvPr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39" name="Google Shape;39;p15"/>
            <p:cNvCxnSpPr/>
            <p:nvPr/>
          </p:nvCxnSpPr>
          <p:spPr>
            <a:xfrm>
              <a:off x="2077471" y="5539116"/>
              <a:ext cx="4755396" cy="0"/>
            </a:xfrm>
            <a:prstGeom prst="straightConnector1">
              <a:avLst/>
            </a:prstGeom>
            <a:noFill/>
            <a:ln cap="flat" cmpd="sng" w="5715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" name="Google Shape;40;p15"/>
            <p:cNvCxnSpPr/>
            <p:nvPr/>
          </p:nvCxnSpPr>
          <p:spPr>
            <a:xfrm>
              <a:off x="6816103" y="5539117"/>
              <a:ext cx="6742176" cy="0"/>
            </a:xfrm>
            <a:prstGeom prst="straightConnector1">
              <a:avLst/>
            </a:prstGeom>
            <a:noFill/>
            <a:ln cap="flat" cmpd="sng" w="5715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on the right">
  <p:cSld name="Two content on the right">
    <p:bg>
      <p:bgPr>
        <a:solidFill>
          <a:schemeClr val="lt2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/>
          <p:nvPr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6"/>
          <p:cNvSpPr txBox="1"/>
          <p:nvPr>
            <p:ph type="title"/>
          </p:nvPr>
        </p:nvSpPr>
        <p:spPr>
          <a:xfrm>
            <a:off x="667512" y="1399032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6245352" y="1252728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6245352" y="3502152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5989320" y="179222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4" type="body"/>
          </p:nvPr>
        </p:nvSpPr>
        <p:spPr>
          <a:xfrm>
            <a:off x="5989320" y="394106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0" name="Google Shape;50;p16"/>
          <p:cNvGrpSpPr/>
          <p:nvPr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51" name="Google Shape;51;p16"/>
            <p:cNvCxnSpPr/>
            <p:nvPr/>
          </p:nvCxnSpPr>
          <p:spPr>
            <a:xfrm>
              <a:off x="5475479" y="5537976"/>
              <a:ext cx="30607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" name="Google Shape;52;p16"/>
            <p:cNvCxnSpPr/>
            <p:nvPr/>
          </p:nvCxnSpPr>
          <p:spPr>
            <a:xfrm flipH="1" rot="10800000">
              <a:off x="8537690" y="5537794"/>
              <a:ext cx="1216871" cy="364"/>
            </a:xfrm>
            <a:prstGeom prst="straightConnector1">
              <a:avLst/>
            </a:prstGeom>
            <a:noFill/>
            <a:ln cap="flat" cmpd="sng" w="5715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dark band">
  <p:cSld name="Title and content dark band">
    <p:bg>
      <p:bgPr>
        <a:solidFill>
          <a:schemeClr val="accent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/>
          <p:nvPr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7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17"/>
          <p:cNvSpPr txBox="1"/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000"/>
              <a:buFont typeface="Arial"/>
              <a:buNone/>
              <a:defRPr sz="50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649224" y="3483864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365760" y="3931920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3" type="body"/>
          </p:nvPr>
        </p:nvSpPr>
        <p:spPr>
          <a:xfrm>
            <a:off x="5943600" y="3931920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61" name="Google Shape;61;p17"/>
          <p:cNvGrpSpPr/>
          <p:nvPr/>
        </p:nvGrpSpPr>
        <p:grpSpPr>
          <a:xfrm flipH="1" rot="5400000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62" name="Google Shape;62;p17"/>
            <p:cNvCxnSpPr/>
            <p:nvPr/>
          </p:nvCxnSpPr>
          <p:spPr>
            <a:xfrm rot="10800000">
              <a:off x="5934529" y="51760740"/>
              <a:ext cx="0" cy="7294360"/>
            </a:xfrm>
            <a:prstGeom prst="straightConnector1">
              <a:avLst/>
            </a:prstGeom>
            <a:noFill/>
            <a:ln cap="flat" cmpd="sng" w="4445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" name="Google Shape;63;p17"/>
            <p:cNvCxnSpPr/>
            <p:nvPr/>
          </p:nvCxnSpPr>
          <p:spPr>
            <a:xfrm rot="10800000">
              <a:off x="11514714" y="53474916"/>
              <a:ext cx="0" cy="3866008"/>
            </a:xfrm>
            <a:prstGeom prst="straightConnector1">
              <a:avLst/>
            </a:prstGeom>
            <a:noFill/>
            <a:ln cap="flat" cmpd="sng" w="4445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bg>
      <p:bgPr>
        <a:solidFill>
          <a:srgbClr val="D8BEB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8"/>
          <p:cNvSpPr txBox="1"/>
          <p:nvPr>
            <p:ph type="title"/>
          </p:nvPr>
        </p:nvSpPr>
        <p:spPr>
          <a:xfrm>
            <a:off x="2295144" y="1463040"/>
            <a:ext cx="749808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8" name="Google Shape;68;p18"/>
          <p:cNvGrpSpPr/>
          <p:nvPr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69" name="Google Shape;69;p18"/>
            <p:cNvCxnSpPr/>
            <p:nvPr/>
          </p:nvCxnSpPr>
          <p:spPr>
            <a:xfrm>
              <a:off x="2286319" y="5546299"/>
              <a:ext cx="7391400" cy="0"/>
            </a:xfrm>
            <a:prstGeom prst="straightConnector1">
              <a:avLst/>
            </a:prstGeom>
            <a:noFill/>
            <a:ln cap="flat" cmpd="sng" w="571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" name="Google Shape;70;p18"/>
            <p:cNvCxnSpPr/>
            <p:nvPr/>
          </p:nvCxnSpPr>
          <p:spPr>
            <a:xfrm>
              <a:off x="9676016" y="5547202"/>
              <a:ext cx="2411430" cy="0"/>
            </a:xfrm>
            <a:prstGeom prst="straightConnector1">
              <a:avLst/>
            </a:prstGeom>
            <a:noFill/>
            <a:ln cap="flat" cmpd="sng" w="5715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1" name="Google Shape;71;p18"/>
          <p:cNvSpPr txBox="1"/>
          <p:nvPr>
            <p:ph idx="1" type="body"/>
          </p:nvPr>
        </p:nvSpPr>
        <p:spPr>
          <a:xfrm>
            <a:off x="2322576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2" type="body"/>
          </p:nvPr>
        </p:nvSpPr>
        <p:spPr>
          <a:xfrm>
            <a:off x="2322576" y="4443984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3" type="body"/>
          </p:nvPr>
        </p:nvSpPr>
        <p:spPr>
          <a:xfrm>
            <a:off x="2020824" y="3401568"/>
            <a:ext cx="8379220" cy="975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4" type="body"/>
          </p:nvPr>
        </p:nvSpPr>
        <p:spPr>
          <a:xfrm>
            <a:off x="2020824" y="4901184"/>
            <a:ext cx="8379220" cy="975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on the right dark">
  <p:cSld name="Two content on the right dark">
    <p:bg>
      <p:bgPr>
        <a:solidFill>
          <a:schemeClr val="accent5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9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9"/>
          <p:cNvSpPr txBox="1"/>
          <p:nvPr>
            <p:ph type="title"/>
          </p:nvPr>
        </p:nvSpPr>
        <p:spPr>
          <a:xfrm>
            <a:off x="667512" y="1399032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Font typeface="Arial"/>
              <a:buNone/>
              <a:defRPr sz="5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6245352" y="1353312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None/>
              <a:defRPr b="1" sz="2200">
                <a:solidFill>
                  <a:schemeClr val="accent5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2" type="body"/>
          </p:nvPr>
        </p:nvSpPr>
        <p:spPr>
          <a:xfrm>
            <a:off x="6245352" y="3502152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None/>
              <a:defRPr b="1" sz="2200">
                <a:solidFill>
                  <a:schemeClr val="accent5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3" type="body"/>
          </p:nvPr>
        </p:nvSpPr>
        <p:spPr>
          <a:xfrm>
            <a:off x="5971032" y="179222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4" type="body"/>
          </p:nvPr>
        </p:nvSpPr>
        <p:spPr>
          <a:xfrm>
            <a:off x="5971032" y="394106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84" name="Google Shape;84;p19"/>
          <p:cNvGrpSpPr/>
          <p:nvPr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85" name="Google Shape;85;p19"/>
            <p:cNvCxnSpPr/>
            <p:nvPr/>
          </p:nvCxnSpPr>
          <p:spPr>
            <a:xfrm>
              <a:off x="5464255" y="5541151"/>
              <a:ext cx="3991534" cy="0"/>
            </a:xfrm>
            <a:prstGeom prst="straightConnector1">
              <a:avLst/>
            </a:prstGeom>
            <a:noFill/>
            <a:ln cap="flat" cmpd="sng" w="5715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" name="Google Shape;86;p19"/>
            <p:cNvCxnSpPr/>
            <p:nvPr/>
          </p:nvCxnSpPr>
          <p:spPr>
            <a:xfrm>
              <a:off x="9454487" y="5541151"/>
              <a:ext cx="16764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bg>
      <p:bgPr>
        <a:solidFill>
          <a:srgbClr val="D8BEB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20"/>
          <p:cNvSpPr txBox="1"/>
          <p:nvPr>
            <p:ph type="title"/>
          </p:nvPr>
        </p:nvSpPr>
        <p:spPr>
          <a:xfrm>
            <a:off x="603504" y="1463040"/>
            <a:ext cx="10871708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" type="body"/>
          </p:nvPr>
        </p:nvSpPr>
        <p:spPr>
          <a:xfrm>
            <a:off x="649224" y="2980944"/>
            <a:ext cx="3282696" cy="1106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2" type="body"/>
          </p:nvPr>
        </p:nvSpPr>
        <p:spPr>
          <a:xfrm>
            <a:off x="4334256" y="2980944"/>
            <a:ext cx="3282696" cy="1106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3" type="body"/>
          </p:nvPr>
        </p:nvSpPr>
        <p:spPr>
          <a:xfrm>
            <a:off x="365760" y="4114800"/>
            <a:ext cx="3282696" cy="975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4" type="body"/>
          </p:nvPr>
        </p:nvSpPr>
        <p:spPr>
          <a:xfrm>
            <a:off x="4005072" y="4114800"/>
            <a:ext cx="3282696" cy="975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95" name="Google Shape;95;p20"/>
          <p:cNvGrpSpPr/>
          <p:nvPr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96" name="Google Shape;96;p20"/>
            <p:cNvCxnSpPr/>
            <p:nvPr/>
          </p:nvCxnSpPr>
          <p:spPr>
            <a:xfrm>
              <a:off x="2792270" y="5541172"/>
              <a:ext cx="6760464" cy="0"/>
            </a:xfrm>
            <a:prstGeom prst="straightConnector1">
              <a:avLst/>
            </a:prstGeom>
            <a:noFill/>
            <a:ln cap="flat" cmpd="sng" w="5715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" name="Google Shape;97;p20"/>
            <p:cNvCxnSpPr/>
            <p:nvPr/>
          </p:nvCxnSpPr>
          <p:spPr>
            <a:xfrm>
              <a:off x="9552734" y="5541330"/>
              <a:ext cx="4631436" cy="0"/>
            </a:xfrm>
            <a:prstGeom prst="straightConnector1">
              <a:avLst/>
            </a:prstGeom>
            <a:noFill/>
            <a:ln cap="flat" cmpd="sng" w="5715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8" name="Google Shape;98;p20"/>
          <p:cNvSpPr txBox="1"/>
          <p:nvPr>
            <p:ph idx="5" type="body"/>
          </p:nvPr>
        </p:nvSpPr>
        <p:spPr>
          <a:xfrm>
            <a:off x="8266176" y="2980944"/>
            <a:ext cx="3282696" cy="1106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6" type="body"/>
          </p:nvPr>
        </p:nvSpPr>
        <p:spPr>
          <a:xfrm>
            <a:off x="7973568" y="4114800"/>
            <a:ext cx="3282696" cy="975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 dark">
  <p:cSld name="Title and two column dark">
    <p:bg>
      <p:bgPr>
        <a:solidFill>
          <a:schemeClr val="accent5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21"/>
          <p:cNvSpPr/>
          <p:nvPr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21"/>
          <p:cNvCxnSpPr/>
          <p:nvPr/>
        </p:nvCxnSpPr>
        <p:spPr>
          <a:xfrm>
            <a:off x="4267200" y="2523744"/>
            <a:ext cx="7924800" cy="883"/>
          </a:xfrm>
          <a:prstGeom prst="straightConnector1">
            <a:avLst/>
          </a:prstGeom>
          <a:noFill/>
          <a:ln cap="flat" cmpd="sng" w="571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" name="Google Shape;105;p21"/>
          <p:cNvCxnSpPr/>
          <p:nvPr/>
        </p:nvCxnSpPr>
        <p:spPr>
          <a:xfrm>
            <a:off x="723384" y="2523744"/>
            <a:ext cx="3543816" cy="0"/>
          </a:xfrm>
          <a:prstGeom prst="straightConnector1">
            <a:avLst/>
          </a:prstGeom>
          <a:noFill/>
          <a:ln cap="flat" cmpd="sng" w="571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" name="Google Shape;106;p21"/>
          <p:cNvSpPr txBox="1"/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649224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 sz="22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6236208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 sz="22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3" type="body"/>
          </p:nvPr>
        </p:nvSpPr>
        <p:spPr>
          <a:xfrm>
            <a:off x="365760" y="3401568"/>
            <a:ext cx="5111496" cy="168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4" type="body"/>
          </p:nvPr>
        </p:nvSpPr>
        <p:spPr>
          <a:xfrm>
            <a:off x="5943600" y="3401568"/>
            <a:ext cx="5111496" cy="168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 on the left">
  <p:cSld name="Three content on the left">
    <p:bg>
      <p:bgPr>
        <a:solidFill>
          <a:schemeClr val="accent5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22"/>
          <p:cNvGrpSpPr/>
          <p:nvPr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114" name="Google Shape;114;p22"/>
            <p:cNvCxnSpPr/>
            <p:nvPr/>
          </p:nvCxnSpPr>
          <p:spPr>
            <a:xfrm>
              <a:off x="5440605" y="5541172"/>
              <a:ext cx="1797621" cy="0"/>
            </a:xfrm>
            <a:prstGeom prst="straightConnector1">
              <a:avLst/>
            </a:prstGeom>
            <a:noFill/>
            <a:ln cap="flat" cmpd="sng" w="5715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" name="Google Shape;115;p22"/>
            <p:cNvCxnSpPr/>
            <p:nvPr/>
          </p:nvCxnSpPr>
          <p:spPr>
            <a:xfrm>
              <a:off x="7237724" y="5540787"/>
              <a:ext cx="4061254" cy="0"/>
            </a:xfrm>
            <a:prstGeom prst="straightConnector1">
              <a:avLst/>
            </a:prstGeom>
            <a:noFill/>
            <a:ln cap="flat" cmpd="sng" w="5715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6" name="Google Shape;116;p22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2"/>
          <p:cNvSpPr txBox="1"/>
          <p:nvPr>
            <p:ph type="title"/>
          </p:nvPr>
        </p:nvSpPr>
        <p:spPr>
          <a:xfrm>
            <a:off x="6217920" y="2514600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630936" y="1252728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2"/>
          <p:cNvSpPr txBox="1"/>
          <p:nvPr>
            <p:ph idx="2" type="body"/>
          </p:nvPr>
        </p:nvSpPr>
        <p:spPr>
          <a:xfrm>
            <a:off x="630936" y="3584448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3" type="body"/>
          </p:nvPr>
        </p:nvSpPr>
        <p:spPr>
          <a:xfrm>
            <a:off x="365760" y="179222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4" type="body"/>
          </p:nvPr>
        </p:nvSpPr>
        <p:spPr>
          <a:xfrm>
            <a:off x="365760" y="4123944"/>
            <a:ext cx="4754880" cy="941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5" type="body"/>
          </p:nvPr>
        </p:nvSpPr>
        <p:spPr>
          <a:xfrm>
            <a:off x="630936" y="5065776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6" type="body"/>
          </p:nvPr>
        </p:nvSpPr>
        <p:spPr>
          <a:xfrm>
            <a:off x="365760" y="5605272"/>
            <a:ext cx="4754880" cy="1143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bg>
      <p:bgPr>
        <a:solidFill>
          <a:schemeClr val="accent6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/>
          <p:nvPr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3"/>
          <p:cNvSpPr txBox="1"/>
          <p:nvPr>
            <p:ph type="title"/>
          </p:nvPr>
        </p:nvSpPr>
        <p:spPr>
          <a:xfrm>
            <a:off x="2313432" y="1426464"/>
            <a:ext cx="6675120" cy="1702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8" name="Google Shape;128;p23"/>
          <p:cNvGrpSpPr/>
          <p:nvPr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129" name="Google Shape;129;p23"/>
            <p:cNvCxnSpPr/>
            <p:nvPr/>
          </p:nvCxnSpPr>
          <p:spPr>
            <a:xfrm>
              <a:off x="3733800" y="5537385"/>
              <a:ext cx="6054153" cy="0"/>
            </a:xfrm>
            <a:prstGeom prst="straightConnector1">
              <a:avLst/>
            </a:prstGeom>
            <a:noFill/>
            <a:ln cap="flat" cmpd="sng" w="571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" name="Google Shape;130;p23"/>
            <p:cNvCxnSpPr/>
            <p:nvPr/>
          </p:nvCxnSpPr>
          <p:spPr>
            <a:xfrm>
              <a:off x="9774567" y="5537385"/>
              <a:ext cx="2171700" cy="0"/>
            </a:xfrm>
            <a:prstGeom prst="straightConnector1">
              <a:avLst/>
            </a:prstGeom>
            <a:noFill/>
            <a:ln cap="flat" cmpd="sng" w="5715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877056" y="3383280"/>
            <a:ext cx="475488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 sz="2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4056992" y="1709738"/>
            <a:ext cx="7290458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4056992" y="4589463"/>
            <a:ext cx="7290457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135" name="Google Shape;135;p24"/>
          <p:cNvGrpSpPr/>
          <p:nvPr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136" name="Google Shape;136;p24"/>
            <p:cNvCxnSpPr/>
            <p:nvPr/>
          </p:nvCxnSpPr>
          <p:spPr>
            <a:xfrm>
              <a:off x="3733800" y="5539861"/>
              <a:ext cx="6054153" cy="0"/>
            </a:xfrm>
            <a:prstGeom prst="straightConnector1">
              <a:avLst/>
            </a:prstGeom>
            <a:noFill/>
            <a:ln cap="flat" cmpd="sng" w="571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" name="Google Shape;137;p24"/>
            <p:cNvCxnSpPr/>
            <p:nvPr/>
          </p:nvCxnSpPr>
          <p:spPr>
            <a:xfrm>
              <a:off x="9783803" y="5539861"/>
              <a:ext cx="21717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5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25"/>
          <p:cNvSpPr txBox="1"/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6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0" name="Google Shape;150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1" name="Google Shape;1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7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8" name="Google Shape;1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8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8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/>
          <p:nvPr>
            <p:ph type="ctrTitle"/>
          </p:nvPr>
        </p:nvSpPr>
        <p:spPr>
          <a:xfrm>
            <a:off x="2279012" y="1459001"/>
            <a:ext cx="6400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/>
              <a:t>Memory Movement Avoidance</a:t>
            </a:r>
            <a:endParaRPr/>
          </a:p>
        </p:txBody>
      </p:sp>
      <p:sp>
        <p:nvSpPr>
          <p:cNvPr id="167" name="Google Shape;167;p1"/>
          <p:cNvSpPr txBox="1"/>
          <p:nvPr>
            <p:ph idx="1" type="subTitle"/>
          </p:nvPr>
        </p:nvSpPr>
        <p:spPr>
          <a:xfrm>
            <a:off x="3867900" y="5047500"/>
            <a:ext cx="82542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Brian Castellon Rosales, Jared Ho, </a:t>
            </a:r>
            <a:r>
              <a:rPr lang="en-US"/>
              <a:t>Samuel Shaaban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"/>
          <p:cNvSpPr txBox="1"/>
          <p:nvPr>
            <p:ph type="title"/>
          </p:nvPr>
        </p:nvSpPr>
        <p:spPr>
          <a:xfrm>
            <a:off x="2295144" y="1463040"/>
            <a:ext cx="749808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/>
              <a:t>Project Overview &amp; Goal</a:t>
            </a:r>
            <a:endParaRPr/>
          </a:p>
        </p:txBody>
      </p:sp>
      <p:sp>
        <p:nvSpPr>
          <p:cNvPr id="174" name="Google Shape;174;p2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2"/>
          <p:cNvSpPr txBox="1"/>
          <p:nvPr>
            <p:ph idx="1" type="body"/>
          </p:nvPr>
        </p:nvSpPr>
        <p:spPr>
          <a:xfrm>
            <a:off x="2322575" y="2953500"/>
            <a:ext cx="9069300" cy="3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Develop a movement avoidance controller for Linux memory </a:t>
            </a:r>
            <a:r>
              <a:rPr lang="en-US" sz="1800"/>
              <a:t>management</a:t>
            </a:r>
            <a:r>
              <a:rPr lang="en-US" sz="1800"/>
              <a:t> using zwap compression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Monitor system metrics including memory pressure, CPU usage, swap activity, and NUMA behavior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Dynamically adjust compression algorithms and pool size based on system conditions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Reduce expensive disk swapping by keeping compressed pages in RAM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Evaluate performance under CPU and memory stress workloads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Visualize results to analyze compression efficiency and system pressure trends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/>
          <p:nvPr>
            <p:ph type="title"/>
          </p:nvPr>
        </p:nvSpPr>
        <p:spPr>
          <a:xfrm>
            <a:off x="603504" y="1463040"/>
            <a:ext cx="105156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/>
              <a:t>System Architecture</a:t>
            </a:r>
            <a:endParaRPr/>
          </a:p>
        </p:txBody>
      </p:sp>
      <p:sp>
        <p:nvSpPr>
          <p:cNvPr id="182" name="Google Shape;182;p3"/>
          <p:cNvSpPr txBox="1"/>
          <p:nvPr>
            <p:ph idx="4" type="body"/>
          </p:nvPr>
        </p:nvSpPr>
        <p:spPr>
          <a:xfrm>
            <a:off x="5943600" y="2760475"/>
            <a:ext cx="6029700" cy="3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61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b="1" lang="en-US" sz="1800"/>
              <a:t>Workload script creates memory stress on the system</a:t>
            </a:r>
            <a:endParaRPr b="1" sz="1800"/>
          </a:p>
          <a:p>
            <a:pPr indent="-2961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/>
              <a:t>Controller monitors CPU, memory pressure, and swap activity</a:t>
            </a:r>
            <a:endParaRPr b="1" sz="1800"/>
          </a:p>
          <a:p>
            <a:pPr indent="-2961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/>
              <a:t>Controller dynamically adjusts compression algorithm and pool size</a:t>
            </a:r>
            <a:endParaRPr b="1" sz="1800"/>
          </a:p>
          <a:p>
            <a:pPr indent="-2961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/>
              <a:t>Metrics are recorded by a logging module and results are visualized using auto-generated graphs</a:t>
            </a:r>
            <a:endParaRPr b="1" sz="1800"/>
          </a:p>
        </p:txBody>
      </p:sp>
      <p:sp>
        <p:nvSpPr>
          <p:cNvPr id="183" name="Google Shape;183;p3"/>
          <p:cNvSpPr txBox="1"/>
          <p:nvPr>
            <p:ph idx="12" type="sldNum"/>
          </p:nvPr>
        </p:nvSpPr>
        <p:spPr>
          <a:xfrm>
            <a:off x="10122408" y="301752"/>
            <a:ext cx="167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4" name="Google Shape;184;p3"/>
          <p:cNvPicPr preferRelativeResize="0"/>
          <p:nvPr/>
        </p:nvPicPr>
        <p:blipFill rotWithShape="1">
          <a:blip r:embed="rId3">
            <a:alphaModFix/>
          </a:blip>
          <a:srcRect b="0" l="2705" r="0" t="0"/>
          <a:stretch/>
        </p:blipFill>
        <p:spPr>
          <a:xfrm>
            <a:off x="152725" y="2760462"/>
            <a:ext cx="5486076" cy="296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 txBox="1"/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000"/>
              <a:buFont typeface="Arial"/>
              <a:buNone/>
            </a:pPr>
            <a:r>
              <a:rPr lang="en-US"/>
              <a:t>Controller</a:t>
            </a:r>
            <a:br>
              <a:rPr lang="en-US"/>
            </a:br>
            <a:endParaRPr/>
          </a:p>
        </p:txBody>
      </p:sp>
      <p:sp>
        <p:nvSpPr>
          <p:cNvPr id="190" name="Google Shape;190;p5"/>
          <p:cNvSpPr txBox="1"/>
          <p:nvPr>
            <p:ph idx="2" type="body"/>
          </p:nvPr>
        </p:nvSpPr>
        <p:spPr>
          <a:xfrm>
            <a:off x="334300" y="3273450"/>
            <a:ext cx="5747700" cy="30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34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-US"/>
              <a:t>Continuously monitor system metrics</a:t>
            </a:r>
            <a:endParaRPr/>
          </a:p>
          <a:p>
            <a:pPr indent="-2834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Collects data from Linux interfaces like PSI and system statistics</a:t>
            </a:r>
            <a:endParaRPr/>
          </a:p>
          <a:p>
            <a:pPr indent="-2834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Dynamically adjusts zswap compression settings to respond to system conditions</a:t>
            </a:r>
            <a:endParaRPr/>
          </a:p>
          <a:p>
            <a:pPr indent="-2834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Selects the most appropriate compression algorithm (lzo, lz4, zstd) based on CPU and memory pressure</a:t>
            </a:r>
            <a:endParaRPr/>
          </a:p>
          <a:p>
            <a:pPr indent="-2834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Logs system behavior for </a:t>
            </a:r>
            <a:r>
              <a:rPr lang="en-US"/>
              <a:t>analysis and visualization of performance trends</a:t>
            </a:r>
            <a:endParaRPr/>
          </a:p>
        </p:txBody>
      </p:sp>
      <p:sp>
        <p:nvSpPr>
          <p:cNvPr id="191" name="Google Shape;191;p5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"/>
          <p:cNvSpPr txBox="1"/>
          <p:nvPr>
            <p:ph type="title"/>
          </p:nvPr>
        </p:nvSpPr>
        <p:spPr>
          <a:xfrm>
            <a:off x="667512" y="1399032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/>
              <a:t>Metrics</a:t>
            </a:r>
            <a:endParaRPr/>
          </a:p>
        </p:txBody>
      </p:sp>
      <p:sp>
        <p:nvSpPr>
          <p:cNvPr id="197" name="Google Shape;197;p4"/>
          <p:cNvSpPr txBox="1"/>
          <p:nvPr>
            <p:ph idx="1" type="body"/>
          </p:nvPr>
        </p:nvSpPr>
        <p:spPr>
          <a:xfrm>
            <a:off x="5989327" y="1274503"/>
            <a:ext cx="482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/>
              <a:t>System Metrics:</a:t>
            </a:r>
            <a:endParaRPr/>
          </a:p>
        </p:txBody>
      </p:sp>
      <p:sp>
        <p:nvSpPr>
          <p:cNvPr id="198" name="Google Shape;198;p4"/>
          <p:cNvSpPr txBox="1"/>
          <p:nvPr>
            <p:ph idx="3" type="body"/>
          </p:nvPr>
        </p:nvSpPr>
        <p:spPr>
          <a:xfrm>
            <a:off x="5989326" y="1792225"/>
            <a:ext cx="58707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80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</a:pPr>
            <a:r>
              <a:rPr lang="en-US" sz="1200"/>
              <a:t>Memory Pressure:  indicates how often process stall due to lack of memory.</a:t>
            </a:r>
            <a:endParaRPr sz="1200"/>
          </a:p>
          <a:p>
            <a:pPr indent="-2580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CPU Usage: measures system CPU load to avoid excessive compression overhead</a:t>
            </a:r>
            <a:endParaRPr sz="1200"/>
          </a:p>
          <a:p>
            <a:pPr indent="-2580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Swap Activity: detects when memory pages are moved to disk</a:t>
            </a:r>
            <a:endParaRPr sz="1200"/>
          </a:p>
          <a:p>
            <a:pPr indent="-2580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NUMA Miss Rate: measures cross-node memory access inefficiencies</a:t>
            </a:r>
            <a:endParaRPr sz="1200"/>
          </a:p>
        </p:txBody>
      </p:sp>
      <p:sp>
        <p:nvSpPr>
          <p:cNvPr id="199" name="Google Shape;199;p4"/>
          <p:cNvSpPr txBox="1"/>
          <p:nvPr>
            <p:ph idx="2" type="body"/>
          </p:nvPr>
        </p:nvSpPr>
        <p:spPr>
          <a:xfrm>
            <a:off x="5989264" y="3502202"/>
            <a:ext cx="482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/>
              <a:t>Compression Metrics:</a:t>
            </a:r>
            <a:endParaRPr/>
          </a:p>
        </p:txBody>
      </p:sp>
      <p:sp>
        <p:nvSpPr>
          <p:cNvPr id="200" name="Google Shape;200;p4"/>
          <p:cNvSpPr txBox="1"/>
          <p:nvPr>
            <p:ph idx="4" type="body"/>
          </p:nvPr>
        </p:nvSpPr>
        <p:spPr>
          <a:xfrm>
            <a:off x="5989326" y="3941075"/>
            <a:ext cx="57075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80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</a:pPr>
            <a:r>
              <a:rPr lang="en-US" sz="1200"/>
              <a:t>Compression Ratio: effectiveness of zswap memory compression</a:t>
            </a:r>
            <a:endParaRPr sz="1200"/>
          </a:p>
          <a:p>
            <a:pPr indent="-2580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Selected Compression Algorithm: tracks switching between lzo, lz4, and zstd</a:t>
            </a:r>
            <a:endParaRPr sz="1200"/>
          </a:p>
          <a:p>
            <a:pPr indent="-2580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Compression Pool Size: percentage of RAM used for compressed pages</a:t>
            </a:r>
            <a:endParaRPr sz="1200"/>
          </a:p>
          <a:p>
            <a:pPr indent="-2580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Per-Node Memory Statistics: monitors memory availability on each NUMA node</a:t>
            </a:r>
            <a:endParaRPr sz="1200"/>
          </a:p>
        </p:txBody>
      </p:sp>
      <p:sp>
        <p:nvSpPr>
          <p:cNvPr id="201" name="Google Shape;201;p4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"/>
          <p:cNvSpPr txBox="1"/>
          <p:nvPr>
            <p:ph type="title"/>
          </p:nvPr>
        </p:nvSpPr>
        <p:spPr>
          <a:xfrm>
            <a:off x="2295144" y="1463040"/>
            <a:ext cx="749808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/>
              <a:t>Difficulties</a:t>
            </a:r>
            <a:endParaRPr/>
          </a:p>
        </p:txBody>
      </p:sp>
      <p:sp>
        <p:nvSpPr>
          <p:cNvPr id="207" name="Google Shape;207;p6"/>
          <p:cNvSpPr txBox="1"/>
          <p:nvPr>
            <p:ph idx="3" type="body"/>
          </p:nvPr>
        </p:nvSpPr>
        <p:spPr>
          <a:xfrm>
            <a:off x="2020825" y="2705102"/>
            <a:ext cx="83793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34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-US"/>
              <a:t>Generating consistent memory pressure without immediately triggering swap</a:t>
            </a:r>
            <a:endParaRPr/>
          </a:p>
          <a:p>
            <a:pPr indent="-2834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Designing workloads that stress memory while leaving CPU available for compression</a:t>
            </a:r>
            <a:endParaRPr/>
          </a:p>
          <a:p>
            <a:pPr indent="-2834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Measuring system performance while using adaptive compression </a:t>
            </a:r>
            <a:endParaRPr/>
          </a:p>
          <a:p>
            <a:pPr indent="-2834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Balancing compression overhead with CPU usage during heavy workloads</a:t>
            </a:r>
            <a:endParaRPr/>
          </a:p>
        </p:txBody>
      </p:sp>
      <p:sp>
        <p:nvSpPr>
          <p:cNvPr id="208" name="Google Shape;208;p6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BEB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 txBox="1"/>
          <p:nvPr>
            <p:ph idx="4294967295" type="title"/>
          </p:nvPr>
        </p:nvSpPr>
        <p:spPr>
          <a:xfrm>
            <a:off x="423600" y="301750"/>
            <a:ext cx="106512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Font typeface="Arial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214" name="Google Shape;214;p7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4344138" y="1005850"/>
            <a:ext cx="112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LZ4: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423588" y="1005850"/>
            <a:ext cx="116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LZO</a:t>
            </a:r>
            <a:r>
              <a:rPr lang="en-US" sz="1600">
                <a:solidFill>
                  <a:schemeClr val="dk2"/>
                </a:solidFill>
              </a:rPr>
              <a:t>: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8301438" y="1005850"/>
            <a:ext cx="101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ZSTD: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18" name="Google Shape;218;p7"/>
          <p:cNvPicPr preferRelativeResize="0"/>
          <p:nvPr/>
        </p:nvPicPr>
        <p:blipFill rotWithShape="1">
          <a:blip r:embed="rId3">
            <a:alphaModFix/>
          </a:blip>
          <a:srcRect b="67690" l="1416" r="51210" t="8519"/>
          <a:stretch/>
        </p:blipFill>
        <p:spPr>
          <a:xfrm>
            <a:off x="4366250" y="1372900"/>
            <a:ext cx="3466975" cy="17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7"/>
          <p:cNvPicPr preferRelativeResize="0"/>
          <p:nvPr/>
        </p:nvPicPr>
        <p:blipFill rotWithShape="1">
          <a:blip r:embed="rId4">
            <a:alphaModFix/>
          </a:blip>
          <a:srcRect b="71956" l="0" r="50894" t="1674"/>
          <a:stretch/>
        </p:blipFill>
        <p:spPr>
          <a:xfrm>
            <a:off x="8301438" y="1372900"/>
            <a:ext cx="3466975" cy="17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7"/>
          <p:cNvPicPr preferRelativeResize="0"/>
          <p:nvPr/>
        </p:nvPicPr>
        <p:blipFill rotWithShape="1">
          <a:blip r:embed="rId5">
            <a:alphaModFix/>
          </a:blip>
          <a:srcRect b="73672" l="0" r="51445" t="0"/>
          <a:stretch/>
        </p:blipFill>
        <p:spPr>
          <a:xfrm>
            <a:off x="423588" y="1384875"/>
            <a:ext cx="3466974" cy="17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7"/>
          <p:cNvPicPr preferRelativeResize="0"/>
          <p:nvPr/>
        </p:nvPicPr>
        <p:blipFill rotWithShape="1">
          <a:blip r:embed="rId5">
            <a:alphaModFix/>
          </a:blip>
          <a:srcRect b="74067" l="51260" r="185" t="-395"/>
          <a:stretch/>
        </p:blipFill>
        <p:spPr>
          <a:xfrm>
            <a:off x="423588" y="3161800"/>
            <a:ext cx="3466974" cy="17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7"/>
          <p:cNvPicPr preferRelativeResize="0"/>
          <p:nvPr/>
        </p:nvPicPr>
        <p:blipFill rotWithShape="1">
          <a:blip r:embed="rId3">
            <a:alphaModFix/>
          </a:blip>
          <a:srcRect b="68238" l="52990" r="0" t="7972"/>
          <a:stretch/>
        </p:blipFill>
        <p:spPr>
          <a:xfrm>
            <a:off x="4392800" y="3161800"/>
            <a:ext cx="3440426" cy="173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7"/>
          <p:cNvPicPr preferRelativeResize="0"/>
          <p:nvPr/>
        </p:nvPicPr>
        <p:blipFill rotWithShape="1">
          <a:blip r:embed="rId4">
            <a:alphaModFix/>
          </a:blip>
          <a:srcRect b="71956" l="51164" r="-270" t="1674"/>
          <a:stretch/>
        </p:blipFill>
        <p:spPr>
          <a:xfrm>
            <a:off x="8286825" y="3161800"/>
            <a:ext cx="3466975" cy="17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7"/>
          <p:cNvPicPr preferRelativeResize="0"/>
          <p:nvPr/>
        </p:nvPicPr>
        <p:blipFill rotWithShape="1">
          <a:blip r:embed="rId5">
            <a:alphaModFix/>
          </a:blip>
          <a:srcRect b="51868" l="51076" r="369" t="23202"/>
          <a:stretch/>
        </p:blipFill>
        <p:spPr>
          <a:xfrm>
            <a:off x="423588" y="4938725"/>
            <a:ext cx="3466974" cy="164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7"/>
          <p:cNvPicPr preferRelativeResize="0"/>
          <p:nvPr/>
        </p:nvPicPr>
        <p:blipFill rotWithShape="1">
          <a:blip r:embed="rId3">
            <a:alphaModFix/>
          </a:blip>
          <a:srcRect b="47456" l="52835" r="155" t="30017"/>
          <a:stretch/>
        </p:blipFill>
        <p:spPr>
          <a:xfrm>
            <a:off x="4392800" y="4950700"/>
            <a:ext cx="3440426" cy="164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7"/>
          <p:cNvPicPr preferRelativeResize="0"/>
          <p:nvPr/>
        </p:nvPicPr>
        <p:blipFill rotWithShape="1">
          <a:blip r:embed="rId4">
            <a:alphaModFix/>
          </a:blip>
          <a:srcRect b="50468" l="51579" r="-102" t="25039"/>
          <a:stretch/>
        </p:blipFill>
        <p:spPr>
          <a:xfrm>
            <a:off x="8301438" y="4950700"/>
            <a:ext cx="3466975" cy="162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"/>
          <p:cNvSpPr txBox="1"/>
          <p:nvPr>
            <p:ph type="title"/>
          </p:nvPr>
        </p:nvSpPr>
        <p:spPr>
          <a:xfrm>
            <a:off x="603504" y="1463040"/>
            <a:ext cx="10871708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/>
              <a:t>Key Findings</a:t>
            </a:r>
            <a:endParaRPr/>
          </a:p>
        </p:txBody>
      </p:sp>
      <p:sp>
        <p:nvSpPr>
          <p:cNvPr id="232" name="Google Shape;232;p8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p8"/>
          <p:cNvSpPr txBox="1"/>
          <p:nvPr>
            <p:ph idx="3" type="body"/>
          </p:nvPr>
        </p:nvSpPr>
        <p:spPr>
          <a:xfrm>
            <a:off x="495300" y="2941375"/>
            <a:ext cx="10896600" cy="28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</a:pPr>
            <a:r>
              <a:rPr lang="en-US"/>
              <a:t>Memory allocation often happens in large chunks, it is difficult to have a system react in time when this happens, as the sudden allocations use a large amount of CPU</a:t>
            </a:r>
            <a:endParaRPr/>
          </a:p>
          <a:p>
            <a:pPr indent="-283464" lvl="0" marL="283464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Once memory fills up, it is difficult to maintain compression as page swaps begin competing for CPU time</a:t>
            </a:r>
            <a:endParaRPr/>
          </a:p>
          <a:p>
            <a:pPr indent="-283464" lvl="0" marL="283464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Might be more helpful in a precomputed setup based on workload that would maintain a constant compression level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 txBox="1"/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</a:pPr>
            <a:r>
              <a:rPr lang="en-US"/>
              <a:t>Future Work</a:t>
            </a:r>
            <a:endParaRPr/>
          </a:p>
        </p:txBody>
      </p:sp>
      <p:sp>
        <p:nvSpPr>
          <p:cNvPr id="239" name="Google Shape;239;p9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9"/>
          <p:cNvSpPr txBox="1"/>
          <p:nvPr>
            <p:ph idx="3" type="body"/>
          </p:nvPr>
        </p:nvSpPr>
        <p:spPr>
          <a:xfrm>
            <a:off x="365750" y="2705100"/>
            <a:ext cx="107535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Improve workload design to create stable high memory pressure without excessive CPU usage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Add performance monitoring and testing for real-world applications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Analyze runtime and power </a:t>
            </a:r>
            <a:r>
              <a:rPr lang="en-US"/>
              <a:t>usage compared to default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Test across a wider range of VM CPU configurations and memory sizes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Compare adaptive compression against a fixed compression policy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"/>
          <p:cNvSpPr txBox="1"/>
          <p:nvPr>
            <p:ph type="title"/>
          </p:nvPr>
        </p:nvSpPr>
        <p:spPr>
          <a:xfrm>
            <a:off x="6217920" y="2514600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46" name="Google Shape;246;p10"/>
          <p:cNvSpPr txBox="1"/>
          <p:nvPr>
            <p:ph idx="3" type="body"/>
          </p:nvPr>
        </p:nvSpPr>
        <p:spPr>
          <a:xfrm>
            <a:off x="365748" y="1792226"/>
            <a:ext cx="5852100" cy="41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34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-US"/>
              <a:t>Memory compression can reduce swap usage and access latency by keeping compressed pages in low latency RAM</a:t>
            </a:r>
            <a:endParaRPr/>
          </a:p>
          <a:p>
            <a:pPr indent="-2834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Memory workloads often increase pressure suddenly, making dynamic compression control difficult</a:t>
            </a:r>
            <a:endParaRPr/>
          </a:p>
          <a:p>
            <a:pPr indent="-2834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Among tested algorithms, LZO generally provided the best and more ideal results</a:t>
            </a:r>
            <a:endParaRPr/>
          </a:p>
          <a:p>
            <a:pPr indent="-283464" lvl="0" marL="2834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A stable compression configuration may outperform dynamic switching for many workloads</a:t>
            </a:r>
            <a:endParaRPr/>
          </a:p>
        </p:txBody>
      </p:sp>
      <p:sp>
        <p:nvSpPr>
          <p:cNvPr id="247" name="Google Shape;247;p10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"/>
          <p:cNvSpPr txBox="1"/>
          <p:nvPr>
            <p:ph type="title"/>
          </p:nvPr>
        </p:nvSpPr>
        <p:spPr>
          <a:xfrm>
            <a:off x="2313432" y="1426464"/>
            <a:ext cx="6675120" cy="1702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rPr lang="en-US"/>
              <a:t>THANK</a:t>
            </a:r>
            <a:br>
              <a:rPr lang="en-US"/>
            </a:br>
            <a:r>
              <a:rPr lang="en-US"/>
              <a:t>YOU</a:t>
            </a:r>
            <a:endParaRPr/>
          </a:p>
        </p:txBody>
      </p:sp>
      <p:sp>
        <p:nvSpPr>
          <p:cNvPr id="253" name="Google Shape;253;p11"/>
          <p:cNvSpPr txBox="1"/>
          <p:nvPr>
            <p:ph idx="1" type="body"/>
          </p:nvPr>
        </p:nvSpPr>
        <p:spPr>
          <a:xfrm>
            <a:off x="3863400" y="3733800"/>
            <a:ext cx="6675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 sz="1900"/>
              <a:t>Brian Castellon Rosales: castelbr@oregonstate.edu</a:t>
            </a:r>
            <a:endParaRPr sz="19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 sz="1900"/>
              <a:t>Jared Ho: </a:t>
            </a:r>
            <a:r>
              <a:rPr lang="en-US" sz="1900"/>
              <a:t>hojar@oregonstate.edu</a:t>
            </a:r>
            <a:endParaRPr sz="19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 sz="1900"/>
              <a:t>Samuel Shaaban: shaabans@oregonstate.edu</a:t>
            </a:r>
            <a:endParaRPr sz="19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2026-03-10T01:36:59Z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